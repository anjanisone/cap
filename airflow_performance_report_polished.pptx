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half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960119" y="2286000"/>
            <a:ext cx="5411948" cy="287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 algn="ctr">
              <a:defRPr b="1" sz="4800">
                <a:solidFill>
                  <a:srgbClr val="1E293B"/>
                </a:solidFill>
              </a:defRPr>
            </a:pPr>
            <a:r>
              <a:t>Airflow Performance</a:t>
            </a:r>
            <a:br/>
            <a:r>
              <a:t>Improvement Report</a:t>
            </a:r>
          </a:p>
          <a:p>
            <a:pPr algn="ctr">
              <a:defRPr>
                <a:solidFill>
                  <a:srgbClr val="64748B"/>
                </a:solidFill>
              </a:defRPr>
            </a:pPr>
            <a:br>
              <a:rPr b="1" sz="4800">
                <a:solidFill>
                  <a:srgbClr val="1E293B"/>
                </a:solidFill>
              </a:rPr>
            </a:br>
            <a:r>
              <a:t>Prepared by Prakhar's Data Team | February 26, 2026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3225745" y="731519"/>
            <a:ext cx="2692510" cy="675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4000">
                <a:solidFill>
                  <a:srgbClr val="002060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CARLYLE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502919" y="6400800"/>
            <a:ext cx="2157300" cy="498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sz="900">
                <a:solidFill>
                  <a:srgbClr val="64748B"/>
                </a:solidFill>
              </a:defRPr>
            </a:pPr>
            <a:r>
              <a:t>CARLYLE | Strictly Internal, Very Confidential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1E293B"/>
                </a:solidFill>
              </a:defRPr>
            </a:lvl1pPr>
          </a:lstStyle>
          <a:p>
            <a:pPr/>
            <a:r>
              <a:t>Executive Summary</a:t>
            </a:r>
          </a:p>
        </p:txBody>
      </p:sp>
      <p:sp>
        <p:nvSpPr>
          <p:cNvPr id="101" name="Rectangle 2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2" name="TextBox 3"/>
          <p:cNvSpPr txBox="1"/>
          <p:nvPr/>
        </p:nvSpPr>
        <p:spPr>
          <a:xfrm>
            <a:off x="7639951" y="-155787"/>
            <a:ext cx="152774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 algn="r">
              <a:defRPr b="1" sz="2200">
                <a:solidFill>
                  <a:srgbClr val="002060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CARLYLE</a:t>
            </a:r>
          </a:p>
        </p:txBody>
      </p:sp>
      <p:grpSp>
        <p:nvGrpSpPr>
          <p:cNvPr id="105" name="Rectangle 4"/>
          <p:cNvGrpSpPr/>
          <p:nvPr/>
        </p:nvGrpSpPr>
        <p:grpSpPr>
          <a:xfrm>
            <a:off x="914400" y="1828800"/>
            <a:ext cx="3657600" cy="1828800"/>
            <a:chOff x="0" y="0"/>
            <a:chExt cx="3657600" cy="1828800"/>
          </a:xfrm>
        </p:grpSpPr>
        <p:sp>
          <p:nvSpPr>
            <p:cNvPr id="103" name="Rectangle"/>
            <p:cNvSpPr/>
            <p:nvPr/>
          </p:nvSpPr>
          <p:spPr>
            <a:xfrm>
              <a:off x="0" y="0"/>
              <a:ext cx="3657600" cy="1828800"/>
            </a:xfrm>
            <a:prstGeom prst="rect">
              <a:avLst/>
            </a:prstGeom>
            <a:solidFill>
              <a:srgbClr val="F8FAFC"/>
            </a:solidFill>
            <a:ln w="12700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</a:defRPr>
              </a:pPr>
            </a:p>
          </p:txBody>
        </p:sp>
        <p:sp>
          <p:nvSpPr>
            <p:cNvPr id="104" name="1,442…"/>
            <p:cNvSpPr txBox="1"/>
            <p:nvPr/>
          </p:nvSpPr>
          <p:spPr>
            <a:xfrm>
              <a:off x="52069" y="364797"/>
              <a:ext cx="3553462" cy="1099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b="1" sz="3800">
                  <a:solidFill>
                    <a:srgbClr val="0EA5E9"/>
                  </a:solidFill>
                </a:defRPr>
              </a:pPr>
              <a:r>
                <a:t> 1,442</a:t>
              </a:r>
            </a:p>
            <a:p>
              <a:pPr>
                <a:defRPr b="1" sz="1600">
                  <a:solidFill>
                    <a:srgbClr val="1E293B"/>
                  </a:solidFill>
                </a:defRPr>
              </a:pPr>
              <a:r>
                <a:t> Hours Saved Annually</a:t>
              </a:r>
            </a:p>
            <a:p>
              <a:pPr>
                <a:defRPr sz="1200">
                  <a:solidFill>
                    <a:srgbClr val="64748B"/>
                  </a:solidFill>
                </a:defRPr>
              </a:pPr>
              <a:r>
                <a:t> Equivalent to ~60 days of compute limit.</a:t>
              </a:r>
            </a:p>
          </p:txBody>
        </p:sp>
      </p:grpSp>
      <p:sp>
        <p:nvSpPr>
          <p:cNvPr id="106" name="Rectangle 5"/>
          <p:cNvSpPr/>
          <p:nvPr/>
        </p:nvSpPr>
        <p:spPr>
          <a:xfrm>
            <a:off x="914399" y="1828800"/>
            <a:ext cx="91442" cy="1828800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09" name="Rectangle 6"/>
          <p:cNvGrpSpPr/>
          <p:nvPr/>
        </p:nvGrpSpPr>
        <p:grpSpPr>
          <a:xfrm>
            <a:off x="5029200" y="1828800"/>
            <a:ext cx="3657600" cy="1828800"/>
            <a:chOff x="0" y="0"/>
            <a:chExt cx="3657600" cy="1828800"/>
          </a:xfrm>
        </p:grpSpPr>
        <p:sp>
          <p:nvSpPr>
            <p:cNvPr id="107" name="Rectangle"/>
            <p:cNvSpPr/>
            <p:nvPr/>
          </p:nvSpPr>
          <p:spPr>
            <a:xfrm>
              <a:off x="0" y="0"/>
              <a:ext cx="3657600" cy="1828800"/>
            </a:xfrm>
            <a:prstGeom prst="rect">
              <a:avLst/>
            </a:prstGeom>
            <a:solidFill>
              <a:srgbClr val="F8FAFC"/>
            </a:solidFill>
            <a:ln w="12700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</a:defRPr>
              </a:pPr>
            </a:p>
          </p:txBody>
        </p:sp>
        <p:sp>
          <p:nvSpPr>
            <p:cNvPr id="108" name="48.9%…"/>
            <p:cNvSpPr txBox="1"/>
            <p:nvPr/>
          </p:nvSpPr>
          <p:spPr>
            <a:xfrm>
              <a:off x="52069" y="364797"/>
              <a:ext cx="3553462" cy="1099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b="1" sz="3800">
                  <a:solidFill>
                    <a:srgbClr val="0EA5E9"/>
                  </a:solidFill>
                </a:defRPr>
              </a:pPr>
              <a:r>
                <a:t> 48.9%</a:t>
              </a:r>
            </a:p>
            <a:p>
              <a:pPr>
                <a:defRPr b="1" sz="1600">
                  <a:solidFill>
                    <a:srgbClr val="1E293B"/>
                  </a:solidFill>
                </a:defRPr>
              </a:pPr>
              <a:r>
                <a:t> Faster Full Load Runs</a:t>
              </a:r>
            </a:p>
            <a:p>
              <a:pPr>
                <a:defRPr sz="1200">
                  <a:solidFill>
                    <a:srgbClr val="64748B"/>
                  </a:solidFill>
                </a:defRPr>
              </a:pPr>
              <a:r>
                <a:t> Average reduced from 5h 24m to 2h 45m.</a:t>
              </a:r>
            </a:p>
          </p:txBody>
        </p:sp>
      </p:grpSp>
      <p:sp>
        <p:nvSpPr>
          <p:cNvPr id="110" name="Rectangle 7"/>
          <p:cNvSpPr/>
          <p:nvPr/>
        </p:nvSpPr>
        <p:spPr>
          <a:xfrm>
            <a:off x="5029199" y="1828800"/>
            <a:ext cx="91442" cy="1828800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13" name="Rectangle 8"/>
          <p:cNvGrpSpPr/>
          <p:nvPr/>
        </p:nvGrpSpPr>
        <p:grpSpPr>
          <a:xfrm>
            <a:off x="914400" y="4114800"/>
            <a:ext cx="3657600" cy="1828800"/>
            <a:chOff x="0" y="0"/>
            <a:chExt cx="3657600" cy="1828800"/>
          </a:xfrm>
        </p:grpSpPr>
        <p:sp>
          <p:nvSpPr>
            <p:cNvPr id="111" name="Rectangle"/>
            <p:cNvSpPr/>
            <p:nvPr/>
          </p:nvSpPr>
          <p:spPr>
            <a:xfrm>
              <a:off x="0" y="0"/>
              <a:ext cx="3657600" cy="1828800"/>
            </a:xfrm>
            <a:prstGeom prst="rect">
              <a:avLst/>
            </a:prstGeom>
            <a:solidFill>
              <a:srgbClr val="F8FAFC"/>
            </a:solidFill>
            <a:ln w="12700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</a:defRPr>
              </a:pPr>
            </a:p>
          </p:txBody>
        </p:sp>
        <p:sp>
          <p:nvSpPr>
            <p:cNvPr id="112" name="36…"/>
            <p:cNvSpPr txBox="1"/>
            <p:nvPr/>
          </p:nvSpPr>
          <p:spPr>
            <a:xfrm>
              <a:off x="52069" y="364797"/>
              <a:ext cx="3553462" cy="1099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b="1" sz="3800">
                  <a:solidFill>
                    <a:srgbClr val="0EA5E9"/>
                  </a:solidFill>
                </a:defRPr>
              </a:pPr>
              <a:r>
                <a:t> 36</a:t>
              </a:r>
            </a:p>
            <a:p>
              <a:pPr>
                <a:defRPr b="1" sz="1600">
                  <a:solidFill>
                    <a:srgbClr val="1E293B"/>
                  </a:solidFill>
                </a:defRPr>
              </a:pPr>
              <a:r>
                <a:t> Data Points Analyzed</a:t>
              </a:r>
            </a:p>
            <a:p>
              <a:pPr>
                <a:defRPr sz="1200">
                  <a:solidFill>
                    <a:srgbClr val="64748B"/>
                  </a:solidFill>
                </a:defRPr>
              </a:pPr>
              <a:r>
                <a:t> Production runs spanning Jan 15 - Feb 26.</a:t>
              </a:r>
            </a:p>
          </p:txBody>
        </p:sp>
      </p:grpSp>
      <p:sp>
        <p:nvSpPr>
          <p:cNvPr id="114" name="Rectangle 9"/>
          <p:cNvSpPr/>
          <p:nvPr/>
        </p:nvSpPr>
        <p:spPr>
          <a:xfrm>
            <a:off x="914399" y="4114800"/>
            <a:ext cx="91442" cy="1828800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17" name="Rectangle 10"/>
          <p:cNvGrpSpPr/>
          <p:nvPr/>
        </p:nvGrpSpPr>
        <p:grpSpPr>
          <a:xfrm>
            <a:off x="5029200" y="4114800"/>
            <a:ext cx="3657600" cy="1828800"/>
            <a:chOff x="0" y="0"/>
            <a:chExt cx="3657600" cy="1828800"/>
          </a:xfrm>
        </p:grpSpPr>
        <p:sp>
          <p:nvSpPr>
            <p:cNvPr id="115" name="Rectangle"/>
            <p:cNvSpPr/>
            <p:nvPr/>
          </p:nvSpPr>
          <p:spPr>
            <a:xfrm>
              <a:off x="0" y="0"/>
              <a:ext cx="3657600" cy="1828800"/>
            </a:xfrm>
            <a:prstGeom prst="rect">
              <a:avLst/>
            </a:prstGeom>
            <a:solidFill>
              <a:srgbClr val="F8FAFC"/>
            </a:solidFill>
            <a:ln w="12700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</a:defRPr>
              </a:pPr>
            </a:p>
          </p:txBody>
        </p:sp>
        <p:sp>
          <p:nvSpPr>
            <p:cNvPr id="116" name="61.5%…"/>
            <p:cNvSpPr txBox="1"/>
            <p:nvPr/>
          </p:nvSpPr>
          <p:spPr>
            <a:xfrm>
              <a:off x="52069" y="364797"/>
              <a:ext cx="3553462" cy="1099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b="1" sz="3800">
                  <a:solidFill>
                    <a:srgbClr val="0EA5E9"/>
                  </a:solidFill>
                </a:defRPr>
              </a:pPr>
              <a:r>
                <a:t> 61.5%</a:t>
              </a:r>
            </a:p>
            <a:p>
              <a:pPr>
                <a:defRPr b="1" sz="1600">
                  <a:solidFill>
                    <a:srgbClr val="1E293B"/>
                  </a:solidFill>
                </a:defRPr>
              </a:pPr>
              <a:r>
                <a:t> Faster Delta Load Runs</a:t>
              </a:r>
            </a:p>
            <a:p>
              <a:pPr>
                <a:defRPr sz="1200">
                  <a:solidFill>
                    <a:srgbClr val="64748B"/>
                  </a:solidFill>
                </a:defRPr>
              </a:pPr>
              <a:r>
                <a:t> Average reduced from 2h 35m to 59m.</a:t>
              </a:r>
            </a:p>
          </p:txBody>
        </p:sp>
      </p:grpSp>
      <p:sp>
        <p:nvSpPr>
          <p:cNvPr id="118" name="Rectangle 11"/>
          <p:cNvSpPr/>
          <p:nvPr/>
        </p:nvSpPr>
        <p:spPr>
          <a:xfrm>
            <a:off x="5029199" y="4114800"/>
            <a:ext cx="91442" cy="1828800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12"/>
          <p:cNvSpPr txBox="1"/>
          <p:nvPr/>
        </p:nvSpPr>
        <p:spPr>
          <a:xfrm>
            <a:off x="502919" y="6400800"/>
            <a:ext cx="2157300" cy="498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sz="900">
                <a:solidFill>
                  <a:srgbClr val="64748B"/>
                </a:solidFill>
              </a:defRPr>
            </a:pPr>
            <a:r>
              <a:t>CARLYLE | Strictly Internal, Very Confidential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E293B"/>
                </a:solidFill>
              </a:defRPr>
            </a:lvl1pPr>
          </a:lstStyle>
          <a:p>
            <a:pPr/>
            <a:r>
              <a:t>Execution Time Comparison</a:t>
            </a:r>
          </a:p>
        </p:txBody>
      </p:sp>
      <p:sp>
        <p:nvSpPr>
          <p:cNvPr id="122" name="Rectangle 2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TextBox 3"/>
          <p:cNvSpPr txBox="1"/>
          <p:nvPr/>
        </p:nvSpPr>
        <p:spPr>
          <a:xfrm>
            <a:off x="7622650" y="-141063"/>
            <a:ext cx="152774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 algn="r">
              <a:defRPr b="1" sz="2200">
                <a:solidFill>
                  <a:srgbClr val="002060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CARLYLE</a:t>
            </a:r>
          </a:p>
        </p:txBody>
      </p:sp>
      <p:pic>
        <p:nvPicPr>
          <p:cNvPr id="12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52400" y="1645920"/>
            <a:ext cx="5793731" cy="3200401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TextBox 5"/>
          <p:cNvSpPr txBox="1"/>
          <p:nvPr/>
        </p:nvSpPr>
        <p:spPr>
          <a:xfrm>
            <a:off x="5937489" y="1946597"/>
            <a:ext cx="3213905" cy="22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b="1" sz="1600">
                <a:solidFill>
                  <a:srgbClr val="0EA5E9"/>
                </a:solidFill>
              </a:defRPr>
            </a:pPr>
            <a:r>
              <a:t>Full Load (Pre vs Post Change)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• Pre-Change Min: 1h 55m  |  Max: 9h 24m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• Post-Change Min:   54m  |  Max: 4h 34m</a:t>
            </a:r>
          </a:p>
          <a:p>
            <a:pPr/>
            <a:br>
              <a:rPr sz="1400">
                <a:solidFill>
                  <a:srgbClr val="1E293B"/>
                </a:solidFill>
              </a:rPr>
            </a:br>
            <a:endParaRPr sz="1400">
              <a:solidFill>
                <a:srgbClr val="1E293B"/>
              </a:solidFill>
            </a:endParaRPr>
          </a:p>
          <a:p>
            <a:pPr>
              <a:defRPr b="1" sz="1600">
                <a:solidFill>
                  <a:srgbClr val="0EA5E9"/>
                </a:solidFill>
              </a:defRPr>
            </a:pPr>
            <a:r>
              <a:t>Delta Load (Pre vs Post Change)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• Pre-Change Min: 1h  8m  |  Max: 5h 47m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• Post-Change Min:      5m  |  Max: 2h 25m</a:t>
            </a:r>
          </a:p>
        </p:txBody>
      </p:sp>
      <p:sp>
        <p:nvSpPr>
          <p:cNvPr id="126" name="TextBox 6"/>
          <p:cNvSpPr txBox="1"/>
          <p:nvPr/>
        </p:nvSpPr>
        <p:spPr>
          <a:xfrm>
            <a:off x="502919" y="6400800"/>
            <a:ext cx="2157300" cy="498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sz="900">
                <a:solidFill>
                  <a:srgbClr val="64748B"/>
                </a:solidFill>
              </a:defRPr>
            </a:pPr>
            <a:r>
              <a:t>CARLYLE | Strictly Internal, Very Confidential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38911">
              <a:defRPr sz="4224">
                <a:solidFill>
                  <a:srgbClr val="1E293B"/>
                </a:solidFill>
              </a:defRPr>
            </a:lvl1pPr>
          </a:lstStyle>
          <a:p>
            <a:pPr/>
            <a:r>
              <a:t>Optimization Strategies Implemented</a:t>
            </a:r>
          </a:p>
        </p:txBody>
      </p:sp>
      <p:sp>
        <p:nvSpPr>
          <p:cNvPr id="129" name="Rectangle 2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3"/>
          <p:cNvSpPr txBox="1"/>
          <p:nvPr/>
        </p:nvSpPr>
        <p:spPr>
          <a:xfrm>
            <a:off x="7610502" y="-141063"/>
            <a:ext cx="152774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 algn="r">
              <a:defRPr b="1" sz="2200">
                <a:solidFill>
                  <a:srgbClr val="002060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CARLYLE</a:t>
            </a:r>
          </a:p>
        </p:txBody>
      </p:sp>
      <p:grpSp>
        <p:nvGrpSpPr>
          <p:cNvPr id="133" name="Rectangle 4"/>
          <p:cNvGrpSpPr/>
          <p:nvPr/>
        </p:nvGrpSpPr>
        <p:grpSpPr>
          <a:xfrm>
            <a:off x="457199" y="1645920"/>
            <a:ext cx="2560322" cy="4114801"/>
            <a:chOff x="0" y="0"/>
            <a:chExt cx="2560320" cy="4114800"/>
          </a:xfrm>
        </p:grpSpPr>
        <p:sp>
          <p:nvSpPr>
            <p:cNvPr id="131" name="Rectangle"/>
            <p:cNvSpPr/>
            <p:nvPr/>
          </p:nvSpPr>
          <p:spPr>
            <a:xfrm>
              <a:off x="-1" y="0"/>
              <a:ext cx="2560322" cy="4114800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100">
                  <a:solidFill>
                    <a:srgbClr val="1E293B"/>
                  </a:solidFill>
                </a:defRPr>
              </a:pPr>
            </a:p>
          </p:txBody>
        </p:sp>
        <p:sp>
          <p:nvSpPr>
            <p:cNvPr id="132" name="Parallel DAG Execution…"/>
            <p:cNvSpPr txBox="1"/>
            <p:nvPr/>
          </p:nvSpPr>
          <p:spPr>
            <a:xfrm>
              <a:off x="50482" y="1055546"/>
              <a:ext cx="2459356" cy="20037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0EA5E9"/>
                  </a:solidFill>
                </a:defRPr>
              </a:pPr>
              <a:br/>
              <a:r>
                <a:t>Parallel DAG Execution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Redesigned DAG topology to maximize task-level concurrency (parallel execution of 30+ independent tasks).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Tuned Airflow internal variables like 'max_active_runs' and 'worker_concurrency' to eliminate queuing.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48.9% critical path reduction by stripping sequential dependencies.</a:t>
              </a:r>
            </a:p>
          </p:txBody>
        </p:sp>
      </p:grpSp>
      <p:sp>
        <p:nvSpPr>
          <p:cNvPr id="134" name="Rectangle 5"/>
          <p:cNvSpPr/>
          <p:nvPr/>
        </p:nvSpPr>
        <p:spPr>
          <a:xfrm>
            <a:off x="457199" y="1645920"/>
            <a:ext cx="2560322" cy="91441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37" name="Rectangle 6"/>
          <p:cNvGrpSpPr/>
          <p:nvPr/>
        </p:nvGrpSpPr>
        <p:grpSpPr>
          <a:xfrm>
            <a:off x="3291840" y="1645920"/>
            <a:ext cx="2560321" cy="4114801"/>
            <a:chOff x="0" y="0"/>
            <a:chExt cx="2560320" cy="4114800"/>
          </a:xfrm>
        </p:grpSpPr>
        <p:sp>
          <p:nvSpPr>
            <p:cNvPr id="135" name="Rectangle"/>
            <p:cNvSpPr/>
            <p:nvPr/>
          </p:nvSpPr>
          <p:spPr>
            <a:xfrm>
              <a:off x="-1" y="0"/>
              <a:ext cx="2560322" cy="4114800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100">
                  <a:solidFill>
                    <a:srgbClr val="1E293B"/>
                  </a:solidFill>
                </a:defRPr>
              </a:pPr>
            </a:p>
          </p:txBody>
        </p:sp>
        <p:sp>
          <p:nvSpPr>
            <p:cNvPr id="136" name="Snowflake COPY INTO Target…"/>
            <p:cNvSpPr txBox="1"/>
            <p:nvPr/>
          </p:nvSpPr>
          <p:spPr>
            <a:xfrm>
              <a:off x="50482" y="1055546"/>
              <a:ext cx="2459356" cy="20037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0EA5E9"/>
                  </a:solidFill>
                </a:defRPr>
              </a:pPr>
              <a:br/>
              <a:r>
                <a:t>Snowflake COPY INTO Target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Deprecated legacy row-by-row inserts (e.g. pandas.to_sql via SQLAlchemy) in favor of high-throughput bulk loads.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Implemented Snowflake 'COPY INTO &lt;table&gt; FROM @stage' native command.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Offloaded I/O overhead from MWAA memory directly to Snowflake Virtual Warehouses, eliminating worker OOM faults.</a:t>
              </a:r>
            </a:p>
          </p:txBody>
        </p:sp>
      </p:grpSp>
      <p:sp>
        <p:nvSpPr>
          <p:cNvPr id="138" name="Rectangle 7"/>
          <p:cNvSpPr/>
          <p:nvPr/>
        </p:nvSpPr>
        <p:spPr>
          <a:xfrm>
            <a:off x="3291840" y="1645920"/>
            <a:ext cx="2560321" cy="91441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41" name="Rectangle 8"/>
          <p:cNvGrpSpPr/>
          <p:nvPr/>
        </p:nvGrpSpPr>
        <p:grpSpPr>
          <a:xfrm>
            <a:off x="6126479" y="1645920"/>
            <a:ext cx="2560321" cy="4114801"/>
            <a:chOff x="0" y="0"/>
            <a:chExt cx="2560320" cy="4114800"/>
          </a:xfrm>
        </p:grpSpPr>
        <p:sp>
          <p:nvSpPr>
            <p:cNvPr id="139" name="Rectangle"/>
            <p:cNvSpPr/>
            <p:nvPr/>
          </p:nvSpPr>
          <p:spPr>
            <a:xfrm>
              <a:off x="-1" y="0"/>
              <a:ext cx="2560322" cy="4114800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100">
                  <a:solidFill>
                    <a:srgbClr val="1E293B"/>
                  </a:solidFill>
                </a:defRPr>
              </a:pPr>
            </a:p>
          </p:txBody>
        </p:sp>
        <p:sp>
          <p:nvSpPr>
            <p:cNvPr id="140" name="Enhanced Alerting &amp; Logs…"/>
            <p:cNvSpPr txBox="1"/>
            <p:nvPr/>
          </p:nvSpPr>
          <p:spPr>
            <a:xfrm>
              <a:off x="50482" y="1055546"/>
              <a:ext cx="2459356" cy="20037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0EA5E9"/>
                  </a:solidFill>
                </a:defRPr>
              </a:pPr>
              <a:br/>
              <a:r>
                <a:t>Enhanced Alerting &amp; Logs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Deployed direct AWS CloudWatch integration for centralized log aggregation across all DAG runs.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Implemented Airflow 'on_failure_callback' hooks bound to automated SNS topics.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Configured immediate SLA miss alerting to reduce Mean Time To Resolution (MTTR) to under 15 minutes.</a:t>
              </a:r>
            </a:p>
          </p:txBody>
        </p:sp>
      </p:grpSp>
      <p:sp>
        <p:nvSpPr>
          <p:cNvPr id="142" name="Rectangle 9"/>
          <p:cNvSpPr/>
          <p:nvPr/>
        </p:nvSpPr>
        <p:spPr>
          <a:xfrm>
            <a:off x="6126479" y="1645920"/>
            <a:ext cx="2560321" cy="91441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TextBox 10"/>
          <p:cNvSpPr txBox="1"/>
          <p:nvPr/>
        </p:nvSpPr>
        <p:spPr>
          <a:xfrm>
            <a:off x="502919" y="6400800"/>
            <a:ext cx="2157300" cy="498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sz="900">
                <a:solidFill>
                  <a:srgbClr val="64748B"/>
                </a:solidFill>
              </a:defRPr>
            </a:pPr>
            <a:r>
              <a:t>CARLYLE | Strictly Internal, Very Confidential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itle 1"/>
          <p:cNvSpPr txBox="1"/>
          <p:nvPr>
            <p:ph type="title"/>
          </p:nvPr>
        </p:nvSpPr>
        <p:spPr>
          <a:xfrm>
            <a:off x="-43438" y="505301"/>
            <a:ext cx="8229601" cy="1143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E293B"/>
                </a:solidFill>
              </a:defRPr>
            </a:lvl1pPr>
          </a:lstStyle>
          <a:p>
            <a:pPr/>
            <a:r>
              <a:t>Timeline &amp; Business Impact</a:t>
            </a:r>
          </a:p>
        </p:txBody>
      </p:sp>
      <p:sp>
        <p:nvSpPr>
          <p:cNvPr id="146" name="Rectangle 2"/>
          <p:cNvSpPr/>
          <p:nvPr/>
        </p:nvSpPr>
        <p:spPr>
          <a:xfrm>
            <a:off x="0" y="-1"/>
            <a:ext cx="9144000" cy="13716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7" name="TextBox 3"/>
          <p:cNvSpPr txBox="1"/>
          <p:nvPr/>
        </p:nvSpPr>
        <p:spPr>
          <a:xfrm>
            <a:off x="7639951" y="-141063"/>
            <a:ext cx="1527744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 algn="r">
              <a:defRPr b="1" sz="2200">
                <a:solidFill>
                  <a:srgbClr val="002060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CARLYLE</a:t>
            </a:r>
          </a:p>
        </p:txBody>
      </p:sp>
      <p:sp>
        <p:nvSpPr>
          <p:cNvPr id="148" name="TextBox 4"/>
          <p:cNvSpPr txBox="1"/>
          <p:nvPr/>
        </p:nvSpPr>
        <p:spPr>
          <a:xfrm>
            <a:off x="960119" y="1645920"/>
            <a:ext cx="4049277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solidFill>
                  <a:srgbClr val="1E293B"/>
                </a:solidFill>
              </a:defRPr>
            </a:lvl1pPr>
          </a:lstStyle>
          <a:p>
            <a:pPr/>
            <a:r>
              <a:t>Implementation Timeline (1 Month / 2 Sprints)</a:t>
            </a:r>
          </a:p>
        </p:txBody>
      </p:sp>
      <p:sp>
        <p:nvSpPr>
          <p:cNvPr id="149" name="Rectangle 5"/>
          <p:cNvSpPr/>
          <p:nvPr/>
        </p:nvSpPr>
        <p:spPr>
          <a:xfrm>
            <a:off x="1371600" y="2468879"/>
            <a:ext cx="6400800" cy="45721"/>
          </a:xfrm>
          <a:prstGeom prst="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Oval 6"/>
          <p:cNvSpPr/>
          <p:nvPr/>
        </p:nvSpPr>
        <p:spPr>
          <a:xfrm>
            <a:off x="1280160" y="2377439"/>
            <a:ext cx="228601" cy="228601"/>
          </a:xfrm>
          <a:prstGeom prst="ellipse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7"/>
          <p:cNvSpPr txBox="1"/>
          <p:nvPr/>
        </p:nvSpPr>
        <p:spPr>
          <a:xfrm>
            <a:off x="1251389" y="2011679"/>
            <a:ext cx="42330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1200">
                <a:solidFill>
                  <a:srgbClr val="1E293B"/>
                </a:solidFill>
              </a:defRPr>
            </a:lvl1pPr>
          </a:lstStyle>
          <a:p>
            <a:pPr/>
            <a:r>
              <a:t>Jan 3</a:t>
            </a:r>
          </a:p>
        </p:txBody>
      </p:sp>
      <p:sp>
        <p:nvSpPr>
          <p:cNvPr id="152" name="TextBox 8"/>
          <p:cNvSpPr txBox="1"/>
          <p:nvPr/>
        </p:nvSpPr>
        <p:spPr>
          <a:xfrm>
            <a:off x="1220928" y="2651760"/>
            <a:ext cx="484224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Kickoff</a:t>
            </a:r>
          </a:p>
        </p:txBody>
      </p:sp>
      <p:sp>
        <p:nvSpPr>
          <p:cNvPr id="153" name="Oval 9"/>
          <p:cNvSpPr/>
          <p:nvPr/>
        </p:nvSpPr>
        <p:spPr>
          <a:xfrm>
            <a:off x="3383279" y="2377439"/>
            <a:ext cx="228601" cy="228601"/>
          </a:xfrm>
          <a:prstGeom prst="ellipse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10"/>
          <p:cNvSpPr txBox="1"/>
          <p:nvPr/>
        </p:nvSpPr>
        <p:spPr>
          <a:xfrm>
            <a:off x="3315888" y="2011679"/>
            <a:ext cx="500544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1200">
                <a:solidFill>
                  <a:srgbClr val="1E293B"/>
                </a:solidFill>
              </a:defRPr>
            </a:lvl1pPr>
          </a:lstStyle>
          <a:p>
            <a:pPr/>
            <a:r>
              <a:t>Jan 21</a:t>
            </a:r>
          </a:p>
        </p:txBody>
      </p:sp>
      <p:sp>
        <p:nvSpPr>
          <p:cNvPr id="155" name="TextBox 11"/>
          <p:cNvSpPr txBox="1"/>
          <p:nvPr/>
        </p:nvSpPr>
        <p:spPr>
          <a:xfrm>
            <a:off x="3207677" y="2651760"/>
            <a:ext cx="716966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Parallelism</a:t>
            </a:r>
          </a:p>
        </p:txBody>
      </p:sp>
      <p:sp>
        <p:nvSpPr>
          <p:cNvPr id="156" name="Oval 12"/>
          <p:cNvSpPr/>
          <p:nvPr/>
        </p:nvSpPr>
        <p:spPr>
          <a:xfrm>
            <a:off x="5486400" y="2377439"/>
            <a:ext cx="228600" cy="228601"/>
          </a:xfrm>
          <a:prstGeom prst="ellipse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13"/>
          <p:cNvSpPr txBox="1"/>
          <p:nvPr/>
        </p:nvSpPr>
        <p:spPr>
          <a:xfrm>
            <a:off x="5419008" y="2011679"/>
            <a:ext cx="500545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1200">
                <a:solidFill>
                  <a:srgbClr val="1E293B"/>
                </a:solidFill>
              </a:defRPr>
            </a:lvl1pPr>
          </a:lstStyle>
          <a:p>
            <a:pPr/>
            <a:r>
              <a:t>Jan 28</a:t>
            </a:r>
          </a:p>
        </p:txBody>
      </p:sp>
      <p:sp>
        <p:nvSpPr>
          <p:cNvPr id="158" name="TextBox 14"/>
          <p:cNvSpPr txBox="1"/>
          <p:nvPr/>
        </p:nvSpPr>
        <p:spPr>
          <a:xfrm>
            <a:off x="5247666" y="2651760"/>
            <a:ext cx="843228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Data Loading</a:t>
            </a:r>
          </a:p>
        </p:txBody>
      </p:sp>
      <p:sp>
        <p:nvSpPr>
          <p:cNvPr id="159" name="Oval 15"/>
          <p:cNvSpPr/>
          <p:nvPr/>
        </p:nvSpPr>
        <p:spPr>
          <a:xfrm>
            <a:off x="7680959" y="2377439"/>
            <a:ext cx="228601" cy="228601"/>
          </a:xfrm>
          <a:prstGeom prst="ellipse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TextBox 16"/>
          <p:cNvSpPr txBox="1"/>
          <p:nvPr/>
        </p:nvSpPr>
        <p:spPr>
          <a:xfrm>
            <a:off x="7642812" y="2011679"/>
            <a:ext cx="442056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 sz="1200">
                <a:solidFill>
                  <a:srgbClr val="1E293B"/>
                </a:solidFill>
              </a:defRPr>
            </a:lvl1pPr>
          </a:lstStyle>
          <a:p>
            <a:pPr/>
            <a:r>
              <a:t>Feb 7</a:t>
            </a:r>
          </a:p>
        </p:txBody>
      </p:sp>
      <p:sp>
        <p:nvSpPr>
          <p:cNvPr id="161" name="TextBox 17"/>
          <p:cNvSpPr txBox="1"/>
          <p:nvPr/>
        </p:nvSpPr>
        <p:spPr>
          <a:xfrm>
            <a:off x="7483598" y="2651760"/>
            <a:ext cx="760485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100">
                <a:solidFill>
                  <a:srgbClr val="64748B"/>
                </a:solidFill>
              </a:defRPr>
            </a:lvl1pPr>
          </a:lstStyle>
          <a:p>
            <a:pPr/>
            <a:r>
              <a:t>Live in Prod</a:t>
            </a:r>
          </a:p>
        </p:txBody>
      </p:sp>
      <p:grpSp>
        <p:nvGrpSpPr>
          <p:cNvPr id="164" name="Rectangle 18"/>
          <p:cNvGrpSpPr/>
          <p:nvPr/>
        </p:nvGrpSpPr>
        <p:grpSpPr>
          <a:xfrm>
            <a:off x="457199" y="3840479"/>
            <a:ext cx="3931922" cy="2011680"/>
            <a:chOff x="0" y="0"/>
            <a:chExt cx="3931920" cy="2011678"/>
          </a:xfrm>
        </p:grpSpPr>
        <p:sp>
          <p:nvSpPr>
            <p:cNvPr id="162" name="Rectangle"/>
            <p:cNvSpPr/>
            <p:nvPr/>
          </p:nvSpPr>
          <p:spPr>
            <a:xfrm>
              <a:off x="-1" y="0"/>
              <a:ext cx="3931922" cy="2011679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100">
                  <a:solidFill>
                    <a:srgbClr val="1E293B"/>
                  </a:solidFill>
                </a:defRPr>
              </a:pPr>
            </a:p>
          </p:txBody>
        </p:sp>
        <p:sp>
          <p:nvSpPr>
            <p:cNvPr id="163" name="Operational Reliability (Variance Data)…"/>
            <p:cNvSpPr txBox="1"/>
            <p:nvPr/>
          </p:nvSpPr>
          <p:spPr>
            <a:xfrm>
              <a:off x="50482" y="251635"/>
              <a:ext cx="3830956" cy="15084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0EA5E9"/>
                  </a:solidFill>
                </a:defRPr>
              </a:pPr>
              <a:br/>
              <a:r>
                <a:t>Operational Reliability (Variance Data)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Execution variance (σ) is drastically reduced across all pipelines, yielding predictable SLA windows.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Delta Load maximums dropped from 5h 47m to 2h 25m, establishing consistent upper-bound limits.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Achieved near 100% adherence to staging availability schedules post-deployment.</a:t>
              </a:r>
            </a:p>
          </p:txBody>
        </p:sp>
      </p:grpSp>
      <p:sp>
        <p:nvSpPr>
          <p:cNvPr id="165" name="Rectangle 19"/>
          <p:cNvSpPr/>
          <p:nvPr/>
        </p:nvSpPr>
        <p:spPr>
          <a:xfrm>
            <a:off x="457199" y="3840479"/>
            <a:ext cx="3931922" cy="91441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68" name="Rectangle 20"/>
          <p:cNvGrpSpPr/>
          <p:nvPr/>
        </p:nvGrpSpPr>
        <p:grpSpPr>
          <a:xfrm>
            <a:off x="4754879" y="3840479"/>
            <a:ext cx="3931921" cy="2011680"/>
            <a:chOff x="0" y="0"/>
            <a:chExt cx="3931920" cy="2011678"/>
          </a:xfrm>
        </p:grpSpPr>
        <p:sp>
          <p:nvSpPr>
            <p:cNvPr id="166" name="Rectangle"/>
            <p:cNvSpPr/>
            <p:nvPr/>
          </p:nvSpPr>
          <p:spPr>
            <a:xfrm>
              <a:off x="-1" y="0"/>
              <a:ext cx="3931922" cy="2011679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E2E8F0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100">
                  <a:solidFill>
                    <a:srgbClr val="1E293B"/>
                  </a:solidFill>
                </a:defRPr>
              </a:pPr>
            </a:p>
          </p:txBody>
        </p:sp>
        <p:sp>
          <p:nvSpPr>
            <p:cNvPr id="167" name="AWS Infrastructure Optimization…"/>
            <p:cNvSpPr txBox="1"/>
            <p:nvPr/>
          </p:nvSpPr>
          <p:spPr>
            <a:xfrm>
              <a:off x="50482" y="169085"/>
              <a:ext cx="3830956" cy="1673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0EA5E9"/>
                  </a:solidFill>
                </a:defRPr>
              </a:pPr>
              <a:br/>
              <a:r>
                <a:t>AWS Infrastructure Optimization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1,442 annual compute hours recovered from the Airflow environment.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Reduces average CPU/Memory pressure on MWAA celery workers by ~40%.</a:t>
              </a:r>
            </a:p>
            <a:p>
              <a:pPr>
                <a:defRPr sz="1100">
                  <a:solidFill>
                    <a:srgbClr val="1E293B"/>
                  </a:solidFill>
                </a:defRPr>
              </a:pPr>
              <a:r>
                <a:t>• Establishes analytical baseline prerequisite to safely downgrading the MWAA environment class (e.g., mw1.large to mw1.medium) for fixed-cost reduction.</a:t>
              </a:r>
            </a:p>
          </p:txBody>
        </p:sp>
      </p:grpSp>
      <p:sp>
        <p:nvSpPr>
          <p:cNvPr id="169" name="Rectangle 21"/>
          <p:cNvSpPr/>
          <p:nvPr/>
        </p:nvSpPr>
        <p:spPr>
          <a:xfrm>
            <a:off x="4754879" y="3840479"/>
            <a:ext cx="3931921" cy="91441"/>
          </a:xfrm>
          <a:prstGeom prst="rect">
            <a:avLst/>
          </a:prstGeom>
          <a:solidFill>
            <a:srgbClr val="0EA5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22"/>
          <p:cNvSpPr txBox="1"/>
          <p:nvPr/>
        </p:nvSpPr>
        <p:spPr>
          <a:xfrm>
            <a:off x="502919" y="6400800"/>
            <a:ext cx="2157300" cy="498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</a:p>
          <a:p>
            <a:pPr>
              <a:defRPr sz="900">
                <a:solidFill>
                  <a:srgbClr val="64748B"/>
                </a:solidFill>
              </a:defRPr>
            </a:pPr>
            <a:r>
              <a:t>CARLYLE | Strictly Internal, Very Confidential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