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1E293B"/>
                </a:solidFill>
              </a:defRPr>
            </a:pPr>
            <a:r>
              <a:t>Airflow Performance</a:t>
            </a:r>
            <a:br/>
            <a:r>
              <a:t>Improvement Report</a:t>
            </a:r>
          </a:p>
          <a:p>
            <a:br/>
            <a:pPr algn="ctr">
              <a:defRPr sz="1800">
                <a:solidFill>
                  <a:srgbClr val="64748B"/>
                </a:solidFill>
              </a:defRPr>
            </a:pPr>
            <a:r>
              <a:t>Prepared by Prakhar's Data Team | February 26,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2060"/>
                </a:solidFill>
                <a:latin typeface="Georgia"/>
              </a:defRPr>
            </a:pPr>
            <a:r>
              <a:t>CARLYLE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 b="0">
                <a:solidFill>
                  <a:srgbClr val="64748B"/>
                </a:solidFill>
              </a:defRPr>
            </a:pPr>
            <a:r>
              <a:t>CARLYLE | Strictly Internal, Very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293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2200" b="1">
                <a:solidFill>
                  <a:srgbClr val="002060"/>
                </a:solidFill>
                <a:latin typeface="Georgia"/>
              </a:defRPr>
            </a:pPr>
            <a:r>
              <a:t>CARLYLE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800" b="1">
                <a:solidFill>
                  <a:srgbClr val="0EA5E9"/>
                </a:solidFill>
              </a:defRPr>
            </a:pPr>
            <a:r>
              <a:t> ~50%</a:t>
            </a:r>
          </a:p>
          <a:p>
            <a:pPr algn="l">
              <a:defRPr sz="1600" b="1">
                <a:solidFill>
                  <a:srgbClr val="1E293B"/>
                </a:solidFill>
              </a:defRPr>
            </a:pPr>
            <a:r>
              <a:t> Run Time Reduction</a:t>
            </a:r>
          </a:p>
          <a:p>
            <a:pPr algn="l">
              <a:defRPr sz="1200">
                <a:solidFill>
                  <a:srgbClr val="64748B"/>
                </a:solidFill>
              </a:defRPr>
            </a:pPr>
            <a:r>
              <a:t> sf_integration_orchestrator median halved from 1h 14m to 37m.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800" b="1">
                <a:solidFill>
                  <a:srgbClr val="0EA5E9"/>
                </a:solidFill>
              </a:defRPr>
            </a:pPr>
            <a:r>
              <a:t> 60%</a:t>
            </a:r>
          </a:p>
          <a:p>
            <a:pPr algn="l">
              <a:defRPr sz="1600" b="1">
                <a:solidFill>
                  <a:srgbClr val="1E293B"/>
                </a:solidFill>
              </a:defRPr>
            </a:pPr>
            <a:r>
              <a:t> Variance Reduction</a:t>
            </a:r>
          </a:p>
          <a:p>
            <a:pPr algn="l">
              <a:defRPr sz="1200">
                <a:solidFill>
                  <a:srgbClr val="64748B"/>
                </a:solidFill>
              </a:defRPr>
            </a:pPr>
            <a:r>
              <a:t> Variance window tightened from unpredictable extremes to a 20-m band.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828800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800" b="1">
                <a:solidFill>
                  <a:srgbClr val="0EA5E9"/>
                </a:solidFill>
              </a:defRPr>
            </a:pPr>
            <a:r>
              <a:t> 1,442</a:t>
            </a:r>
          </a:p>
          <a:p>
            <a:pPr algn="l">
              <a:defRPr sz="1600" b="1">
                <a:solidFill>
                  <a:srgbClr val="1E293B"/>
                </a:solidFill>
              </a:defRPr>
            </a:pPr>
            <a:r>
              <a:t> Hours Saved Annually</a:t>
            </a:r>
          </a:p>
          <a:p>
            <a:pPr algn="l">
              <a:defRPr sz="1200">
                <a:solidFill>
                  <a:srgbClr val="64748B"/>
                </a:solidFill>
              </a:defRPr>
            </a:pPr>
            <a:r>
              <a:t> Equivalent to ~60 days of compute limit.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41148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800" b="1">
                <a:solidFill>
                  <a:srgbClr val="0EA5E9"/>
                </a:solidFill>
              </a:defRPr>
            </a:pPr>
            <a:r>
              <a:t> 36+</a:t>
            </a:r>
          </a:p>
          <a:p>
            <a:pPr algn="l">
              <a:defRPr sz="1600" b="1">
                <a:solidFill>
                  <a:srgbClr val="1E293B"/>
                </a:solidFill>
              </a:defRPr>
            </a:pPr>
            <a:r>
              <a:t> Data Points Analyzed</a:t>
            </a:r>
          </a:p>
          <a:p>
            <a:pPr algn="l">
              <a:defRPr sz="1200">
                <a:solidFill>
                  <a:srgbClr val="64748B"/>
                </a:solidFill>
              </a:defRPr>
            </a:pPr>
            <a:r>
              <a:t> Production runs spanning Feb 08 - Feb 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14800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 b="0">
                <a:solidFill>
                  <a:srgbClr val="64748B"/>
                </a:solidFill>
              </a:defRPr>
            </a:pPr>
            <a:r>
              <a:t>CARLYLE | Strictly Internal, Very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93B"/>
                </a:solidFill>
              </a:defRPr>
            </a:pPr>
            <a:r>
              <a:t>Execution Time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2200" b="1">
                <a:solidFill>
                  <a:srgbClr val="002060"/>
                </a:solidFill>
                <a:latin typeface="Georgia"/>
              </a:defRPr>
            </a:pPr>
            <a:r>
              <a:t>CARLYLE</a:t>
            </a:r>
          </a:p>
        </p:txBody>
      </p:sp>
      <p:pic>
        <p:nvPicPr>
          <p:cNvPr id="5" name="Picture 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793731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0EA5E9"/>
                </a:solidFill>
              </a:defRPr>
            </a:pPr>
            <a:r>
              <a:t>Execution Time Extremes</a:t>
            </a:r>
          </a:p>
          <a:p>
            <a:pPr>
              <a:defRPr b="1" sz="1400">
                <a:solidFill>
                  <a:srgbClr val="1E293B"/>
                </a:solidFill>
              </a:defRPr>
            </a:pPr>
            <a:r>
              <a:t>Before Change (Legacy v2)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• Min Time Line: 1h 11m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• Max Time Line: 1h 16m</a:t>
            </a:r>
          </a:p>
          <a:p>
            <a:br/>
          </a:p>
          <a:p>
            <a:pPr>
              <a:defRPr b="1" sz="1400">
                <a:solidFill>
                  <a:srgbClr val="1E293B"/>
                </a:solidFill>
              </a:defRPr>
            </a:pPr>
            <a:r>
              <a:t>After Change (Modern v4/v5)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• Min Time Line: 30m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• Max Time Line: 50m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 b="0">
                <a:solidFill>
                  <a:srgbClr val="64748B"/>
                </a:solidFill>
              </a:defRPr>
            </a:pPr>
            <a:r>
              <a:t>CARLYLE | Strictly Internal, Very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93B"/>
                </a:solidFill>
              </a:defRPr>
            </a:pPr>
            <a:r>
              <a:t>Optimization Strategies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2200" b="1">
                <a:solidFill>
                  <a:srgbClr val="002060"/>
                </a:solidFill>
                <a:latin typeface="Georgia"/>
              </a:defRPr>
            </a:pPr>
            <a:r>
              <a:t>CARLYLE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Parallel DAG Execution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Redesigned DAG topology to maximize task-level concurrency (parallel execution of 30+ independent tasks).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Tuned Airflow internal variables like 'max_active_runs' and 'worker_concurrency' to eliminate queuing.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48.9% critical path reduction by stripping sequential dependencies.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1645920"/>
            <a:ext cx="25603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Snowflake COPY INTO Target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Deprecated legacy row-by-row inserts (e.g. pandas.to_sql via SQLAlchemy) in favor of high-throughput bulk loads.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Implemented Snowflake 'COPY INTO &lt;table&gt; FROM @stage' native command.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Offloaded I/O overhead from MWAA memory directly to Snowflake Virtual Warehouses, eliminating worker OOM faults.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4592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25603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Enhanced Alerting &amp; Logs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Deployed direct AWS CloudWatch integration for centralized log aggregation across all DAG runs.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Implemented Airflow 'on_failure_callback' hooks bound to automated SNS topics.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Configured immediate SLA miss alerting to reduce Mean Time To Resolution (MTTR) to under 15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 b="0">
                <a:solidFill>
                  <a:srgbClr val="64748B"/>
                </a:solidFill>
              </a:defRPr>
            </a:pPr>
            <a:r>
              <a:t>CARLYLE | Strictly Internal, Very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93B"/>
                </a:solidFill>
              </a:defRPr>
            </a:pPr>
            <a:r>
              <a:t>Timeline &amp;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2200" b="1">
                <a:solidFill>
                  <a:srgbClr val="002060"/>
                </a:solidFill>
                <a:latin typeface="Georgia"/>
              </a:defRPr>
            </a:pPr>
            <a:r>
              <a:t>CARLYLE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293B"/>
                </a:solidFill>
              </a:defRPr>
            </a:pPr>
            <a:r>
              <a:t>Implementation Timeline (Jan - Feb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468880"/>
            <a:ext cx="6400800" cy="457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377440"/>
            <a:ext cx="228600" cy="2286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E293B"/>
                </a:solidFill>
              </a:defRPr>
            </a:pPr>
            <a:r>
              <a:t>Jan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Development</a:t>
            </a:r>
          </a:p>
        </p:txBody>
      </p:sp>
      <p:sp>
        <p:nvSpPr>
          <p:cNvPr id="10" name="Oval 9"/>
          <p:cNvSpPr/>
          <p:nvPr/>
        </p:nvSpPr>
        <p:spPr>
          <a:xfrm>
            <a:off x="3383279" y="2377440"/>
            <a:ext cx="228600" cy="2286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E293B"/>
                </a:solidFill>
              </a:defRPr>
            </a:pPr>
            <a:r>
              <a:t>Jan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Parallelism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2377440"/>
            <a:ext cx="228600" cy="2286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E293B"/>
                </a:solidFill>
              </a:defRPr>
            </a:pPr>
            <a:r>
              <a:t>Jan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COPY_INTO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2377440"/>
            <a:ext cx="228600" cy="2286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E293B"/>
                </a:solidFill>
              </a:defRPr>
            </a:pPr>
            <a:r>
              <a:t>Feb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651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Prod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39319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Operational Reliability (Variance Data)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Execution variance (σ) is drastically reduced across all pipelines, yielding predictable SLA windows.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Delta Load maximums dropped from 5h 47m to 2h 25m, establishing consistent upper-bound limits.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Achieved near 100% adherence to staging availability schedules post-deployment.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39319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840480"/>
            <a:ext cx="39319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AWS Infrastructure Optimization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1,442 annual compute hours recovered from the Airflow environment.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Reduces average CPU/Memory pressure on MWAA celery workers by ~40%.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Establishes analytical baseline prerequisite to safely downgrading the MWAA environment class (e.g., mw1.large to mw1.medium) for fixed-cost reduction.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840480"/>
            <a:ext cx="39319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 b="0">
                <a:solidFill>
                  <a:srgbClr val="64748B"/>
                </a:solidFill>
              </a:defRPr>
            </a:pPr>
            <a:r>
              <a:t>CARLYLE | Strictly Internal, Very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93B"/>
                </a:solidFill>
              </a:defRPr>
            </a:pPr>
            <a:r>
              <a:t>DAG Deep Dive: sf_integration_orchestrator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2200" b="1">
                <a:solidFill>
                  <a:srgbClr val="002060"/>
                </a:solidFill>
                <a:latin typeface="Georgia"/>
              </a:defRPr>
            </a:pPr>
            <a:r>
              <a:t>CARLYLE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Version Comparison (v2 vs v4/v5)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Base compute execution halving: v4/v5 runs consistently anchor around a ~33m - 41m median cluster, compared to the ~1h 11m - 1h 15m cluster of legacy v2 runs.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Fault Tolerance Improvement: v4/v5 exhibits near-perfect 'Try 1' execution success. v2 frequently triggered Airflow task retries ('Try 2') due to implicit OOMs or network faults.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Critical Path Bottlenecks: Longest individual tasks dropped from severe 5–7.5m peaks (e.g. account/office runs) to a tightly bounded 2–6m maximum envelope.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9319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Architecture &amp; Parallel Task Distribution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Control Flow Vectoring: Utilizes low-latency EmptyOperators (parallel_start/join) anchoring massive horizontal fan-out to TriggerDagRunOperators.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High-Density Concurrency: Triggers sub-DAGs (e.g., sc_to_sf_*, fintrx_to_sf_*) within the same fractional minute to immediately saturate available worker pool.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Persistent Outliers: 'sc_to_sf_contact_summary_dag' remains the heaviest constraint, maintaining a 3-6m execution floor despite wider optimizations.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645920"/>
            <a:ext cx="39319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EA5E9"/>
                </a:solidFill>
              </a:defRPr>
            </a:pPr>
            <a:br/>
            <a:r>
              <a:t>Statistical Analysis of Min vs Max Extremes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Absolute Minimum Baseline (~30 min): Recorded exactly on 2026-02-17 (v4). This establishes the new theoretical infrastructure minimum floor natively limited by the data warehouse compute thresholds.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Absolute Maximum Ceiling (~1 hr 16 min): Recorded on 2026-02-11 (v2). This represents the legacy worst-case scenario before sequential bottlenecks and network IO blocks were aggressively stripped.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Variance Compression Impact: The massive gap between min and max limits has been compressed. The bulk of modern v4/v5 runs fit into a tight 8-minute variance band (33m - 41m), eliminating the extreme maximums previously observed.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82296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 b="0">
                <a:solidFill>
                  <a:srgbClr val="64748B"/>
                </a:solidFill>
              </a:defRPr>
            </a:pPr>
            <a:r>
              <a:t>CARLYLE | Strictly Internal, Very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